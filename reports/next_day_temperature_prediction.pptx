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4"/>
  </p:notesMasterIdLst>
  <p:handoutMasterIdLst>
    <p:handoutMasterId r:id="rId15"/>
  </p:handoutMasterIdLst>
  <p:sldIdLst>
    <p:sldId id="306" r:id="rId2"/>
    <p:sldId id="341" r:id="rId3"/>
    <p:sldId id="342" r:id="rId4"/>
    <p:sldId id="343" r:id="rId5"/>
    <p:sldId id="344" r:id="rId6"/>
    <p:sldId id="358" r:id="rId7"/>
    <p:sldId id="359" r:id="rId8"/>
    <p:sldId id="347" r:id="rId9"/>
    <p:sldId id="355" r:id="rId10"/>
    <p:sldId id="360" r:id="rId11"/>
    <p:sldId id="356" r:id="rId12"/>
    <p:sldId id="357" r:id="rId13"/>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6532" autoAdjust="0"/>
  </p:normalViewPr>
  <p:slideViewPr>
    <p:cSldViewPr snapToGrid="0" snapToObjects="1">
      <p:cViewPr>
        <p:scale>
          <a:sx n="65" d="100"/>
          <a:sy n="65" d="100"/>
        </p:scale>
        <p:origin x="1320" y="60"/>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8B5B3FC-D259-4339-B80E-3202CA0E79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en-US" dirty="0"/>
          </a:p>
        </p:txBody>
      </p:sp>
      <p:sp>
        <p:nvSpPr>
          <p:cNvPr id="3" name="Date Placeholder 2">
            <a:extLst>
              <a:ext uri="{FF2B5EF4-FFF2-40B4-BE49-F238E27FC236}">
                <a16:creationId xmlns:a16="http://schemas.microsoft.com/office/drawing/2014/main" id="{83FC71E3-9681-4FD2-8D7A-D1CF620D97E0}"/>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81C42527-8CB2-4B15-A023-2BC6DAF79A16}" type="datetimeFigureOut">
              <a:rPr lang="en-US" altLang="en-US"/>
              <a:pPr>
                <a:defRPr/>
              </a:pPr>
              <a:t>5/9/2024</a:t>
            </a:fld>
            <a:endParaRPr lang="en-US" altLang="en-US" dirty="0"/>
          </a:p>
        </p:txBody>
      </p:sp>
      <p:sp>
        <p:nvSpPr>
          <p:cNvPr id="4" name="Footer Placeholder 3">
            <a:extLst>
              <a:ext uri="{FF2B5EF4-FFF2-40B4-BE49-F238E27FC236}">
                <a16:creationId xmlns:a16="http://schemas.microsoft.com/office/drawing/2014/main" id="{B2420833-BE26-409D-977C-70F1EE82E373}"/>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dirty="0"/>
          </a:p>
        </p:txBody>
      </p:sp>
      <p:sp>
        <p:nvSpPr>
          <p:cNvPr id="5" name="Slide Number Placeholder 4">
            <a:extLst>
              <a:ext uri="{FF2B5EF4-FFF2-40B4-BE49-F238E27FC236}">
                <a16:creationId xmlns:a16="http://schemas.microsoft.com/office/drawing/2014/main" id="{E1CBEA6B-0C64-42E5-9E64-21C8B8DDE37A}"/>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D518A1C-3D7A-4D93-87CB-929567B29C90}" type="slidenum">
              <a:rPr lang="en-US" altLang="en-US"/>
              <a:pPr>
                <a:defRPr/>
              </a:pPr>
              <a:t>‹#›</a:t>
            </a:fld>
            <a:endParaRPr lang="en-US" alt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FE9C9D1-FF53-4A1F-B1AC-C553C465C06C}"/>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en-US" dirty="0"/>
          </a:p>
        </p:txBody>
      </p:sp>
      <p:sp>
        <p:nvSpPr>
          <p:cNvPr id="3" name="Date Placeholder 2">
            <a:extLst>
              <a:ext uri="{FF2B5EF4-FFF2-40B4-BE49-F238E27FC236}">
                <a16:creationId xmlns:a16="http://schemas.microsoft.com/office/drawing/2014/main" id="{41B10D0F-6CF9-4371-BFF6-87FD774BB128}"/>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32E9C981-B83C-43FE-BAC2-886B2E289F95}" type="datetimeFigureOut">
              <a:rPr lang="en-US" altLang="en-US"/>
              <a:pPr>
                <a:defRPr/>
              </a:pPr>
              <a:t>5/9/2024</a:t>
            </a:fld>
            <a:endParaRPr lang="en-US" altLang="en-US" dirty="0"/>
          </a:p>
        </p:txBody>
      </p:sp>
      <p:sp>
        <p:nvSpPr>
          <p:cNvPr id="4" name="Slide Image Placeholder 3">
            <a:extLst>
              <a:ext uri="{FF2B5EF4-FFF2-40B4-BE49-F238E27FC236}">
                <a16:creationId xmlns:a16="http://schemas.microsoft.com/office/drawing/2014/main" id="{536C0587-BAD1-4F27-AE41-8F616658EAB8}"/>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E2CFA256-6831-4BFA-8360-3E04C7D4E739}"/>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ABCA1D6E-799F-469D-AE51-4A6D5AA5EEB9}"/>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dirty="0"/>
          </a:p>
        </p:txBody>
      </p:sp>
      <p:sp>
        <p:nvSpPr>
          <p:cNvPr id="7" name="Slide Number Placeholder 6">
            <a:extLst>
              <a:ext uri="{FF2B5EF4-FFF2-40B4-BE49-F238E27FC236}">
                <a16:creationId xmlns:a16="http://schemas.microsoft.com/office/drawing/2014/main" id="{339090E3-AF64-4FF8-AE87-9C351B090760}"/>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A048AD9-4560-411A-985C-A5A70006F240}"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F8AA2057-F365-401A-BCBD-AB15783DA6B7}"/>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F9DCA33-D365-4FE0-81A7-27A770F66A96}" type="datetimeFigureOut">
              <a:rPr lang="en-US" altLang="en-US"/>
              <a:pPr>
                <a:defRPr/>
              </a:pPr>
              <a:t>5/9/2024</a:t>
            </a:fld>
            <a:endParaRPr lang="en-US" altLang="en-US" dirty="0"/>
          </a:p>
        </p:txBody>
      </p:sp>
      <p:sp>
        <p:nvSpPr>
          <p:cNvPr id="5" name="Footer Placeholder 4">
            <a:extLst>
              <a:ext uri="{FF2B5EF4-FFF2-40B4-BE49-F238E27FC236}">
                <a16:creationId xmlns:a16="http://schemas.microsoft.com/office/drawing/2014/main" id="{D4A55D79-0C34-4DF6-BBDC-31C81003B506}"/>
              </a:ext>
            </a:extLst>
          </p:cNvPr>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endParaRPr lang="en-US" altLang="en-US" dirty="0"/>
          </a:p>
        </p:txBody>
      </p:sp>
      <p:sp>
        <p:nvSpPr>
          <p:cNvPr id="6" name="Slide Number Placeholder 5">
            <a:extLst>
              <a:ext uri="{FF2B5EF4-FFF2-40B4-BE49-F238E27FC236}">
                <a16:creationId xmlns:a16="http://schemas.microsoft.com/office/drawing/2014/main" id="{20D99590-BA39-44A9-93FC-5BE7E9236185}"/>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511B927-7FF2-4960-929B-A359A8EEEE7B}" type="slidenum">
              <a:rPr lang="en-US" altLang="en-US"/>
              <a:pPr>
                <a:defRPr/>
              </a:pPr>
              <a:t>‹#›</a:t>
            </a:fld>
            <a:endParaRPr lang="en-US" altLang="en-US" dirty="0"/>
          </a:p>
        </p:txBody>
      </p:sp>
    </p:spTree>
    <p:extLst>
      <p:ext uri="{BB962C8B-B14F-4D97-AF65-F5344CB8AC3E}">
        <p14:creationId xmlns:p14="http://schemas.microsoft.com/office/powerpoint/2010/main" val="3357749956"/>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rgbClr val="002060"/>
                </a:solidFill>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1C68AF-BA65-4F09-A35A-7EF98513B450}"/>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4B927C0-26D1-4F68-B12B-5B0CF161EE9E}" type="datetimeFigureOut">
              <a:rPr lang="en-US" altLang="en-US"/>
              <a:pPr>
                <a:defRPr/>
              </a:pPr>
              <a:t>5/9/2024</a:t>
            </a:fld>
            <a:endParaRPr lang="en-US" altLang="en-US" dirty="0"/>
          </a:p>
        </p:txBody>
      </p:sp>
      <p:sp>
        <p:nvSpPr>
          <p:cNvPr id="5" name="Footer Placeholder 4">
            <a:extLst>
              <a:ext uri="{FF2B5EF4-FFF2-40B4-BE49-F238E27FC236}">
                <a16:creationId xmlns:a16="http://schemas.microsoft.com/office/drawing/2014/main" id="{A1C5C241-3308-4E50-AFE6-41F07D07FB0B}"/>
              </a:ext>
            </a:extLst>
          </p:cNvPr>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endParaRPr lang="en-US" altLang="en-US" dirty="0"/>
          </a:p>
        </p:txBody>
      </p:sp>
      <p:sp>
        <p:nvSpPr>
          <p:cNvPr id="6" name="Slide Number Placeholder 5">
            <a:extLst>
              <a:ext uri="{FF2B5EF4-FFF2-40B4-BE49-F238E27FC236}">
                <a16:creationId xmlns:a16="http://schemas.microsoft.com/office/drawing/2014/main" id="{E67ECFCB-F036-4B0A-97A9-C6DEC65D1F02}"/>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ABC21EAA-49E6-4B6F-A4FB-986EE655E2A1}" type="slidenum">
              <a:rPr lang="en-US" altLang="en-US"/>
              <a:pPr>
                <a:defRPr/>
              </a:pPr>
              <a:t>‹#›</a:t>
            </a:fld>
            <a:endParaRPr lang="en-US" altLang="en-US" dirty="0"/>
          </a:p>
        </p:txBody>
      </p:sp>
    </p:spTree>
    <p:extLst>
      <p:ext uri="{BB962C8B-B14F-4D97-AF65-F5344CB8AC3E}">
        <p14:creationId xmlns:p14="http://schemas.microsoft.com/office/powerpoint/2010/main" val="641717427"/>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2893C7-E7FB-4767-988A-0F37584B8503}"/>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6AA0E657-A5C6-4D8A-8EB1-623EA37EA730}" type="datetimeFigureOut">
              <a:rPr lang="en-US" altLang="en-US"/>
              <a:pPr>
                <a:defRPr/>
              </a:pPr>
              <a:t>5/9/2024</a:t>
            </a:fld>
            <a:endParaRPr lang="en-US" altLang="en-US" dirty="0"/>
          </a:p>
        </p:txBody>
      </p:sp>
      <p:sp>
        <p:nvSpPr>
          <p:cNvPr id="5" name="Footer Placeholder 4">
            <a:extLst>
              <a:ext uri="{FF2B5EF4-FFF2-40B4-BE49-F238E27FC236}">
                <a16:creationId xmlns:a16="http://schemas.microsoft.com/office/drawing/2014/main" id="{A903C0D7-29E8-4D75-BDDF-7AE96B42C680}"/>
              </a:ext>
            </a:extLst>
          </p:cNvPr>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endParaRPr lang="en-US" altLang="en-US" dirty="0"/>
          </a:p>
        </p:txBody>
      </p:sp>
      <p:sp>
        <p:nvSpPr>
          <p:cNvPr id="6" name="Slide Number Placeholder 5">
            <a:extLst>
              <a:ext uri="{FF2B5EF4-FFF2-40B4-BE49-F238E27FC236}">
                <a16:creationId xmlns:a16="http://schemas.microsoft.com/office/drawing/2014/main" id="{8E8E2663-68A6-4797-84DB-D26E42FB73DA}"/>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346BBD96-78D1-4DAB-9705-F30109DE1322}" type="slidenum">
              <a:rPr lang="en-US" altLang="en-US"/>
              <a:pPr>
                <a:defRPr/>
              </a:pPr>
              <a:t>‹#›</a:t>
            </a:fld>
            <a:endParaRPr lang="en-US" altLang="en-US" dirty="0"/>
          </a:p>
        </p:txBody>
      </p:sp>
    </p:spTree>
    <p:extLst>
      <p:ext uri="{BB962C8B-B14F-4D97-AF65-F5344CB8AC3E}">
        <p14:creationId xmlns:p14="http://schemas.microsoft.com/office/powerpoint/2010/main" val="1891998801"/>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40C3F7-D3E6-4B8A-9FC8-686FB25235F9}"/>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BBD917D-4136-45A5-9DAF-6C2EC9D971F2}" type="datetimeFigureOut">
              <a:rPr lang="en-US" altLang="en-US"/>
              <a:pPr>
                <a:defRPr/>
              </a:pPr>
              <a:t>5/9/2024</a:t>
            </a:fld>
            <a:endParaRPr lang="en-US" altLang="en-US" dirty="0"/>
          </a:p>
        </p:txBody>
      </p:sp>
      <p:sp>
        <p:nvSpPr>
          <p:cNvPr id="6" name="Footer Placeholder 5">
            <a:extLst>
              <a:ext uri="{FF2B5EF4-FFF2-40B4-BE49-F238E27FC236}">
                <a16:creationId xmlns:a16="http://schemas.microsoft.com/office/drawing/2014/main" id="{D7F61188-20BA-4A33-9B4E-7AFE8130F948}"/>
              </a:ext>
            </a:extLst>
          </p:cNvPr>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endParaRPr lang="en-US" altLang="en-US" dirty="0"/>
          </a:p>
        </p:txBody>
      </p:sp>
      <p:sp>
        <p:nvSpPr>
          <p:cNvPr id="7" name="Slide Number Placeholder 6">
            <a:extLst>
              <a:ext uri="{FF2B5EF4-FFF2-40B4-BE49-F238E27FC236}">
                <a16:creationId xmlns:a16="http://schemas.microsoft.com/office/drawing/2014/main" id="{59F5CD8B-E93C-4D9E-9F3B-750296C10E16}"/>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9052D72-5FD4-49A6-A517-AE78A399A7BE}" type="slidenum">
              <a:rPr lang="en-US" altLang="en-US"/>
              <a:pPr>
                <a:defRPr/>
              </a:pPr>
              <a:t>‹#›</a:t>
            </a:fld>
            <a:endParaRPr lang="en-US" altLang="en-US" dirty="0"/>
          </a:p>
        </p:txBody>
      </p:sp>
    </p:spTree>
    <p:extLst>
      <p:ext uri="{BB962C8B-B14F-4D97-AF65-F5344CB8AC3E}">
        <p14:creationId xmlns:p14="http://schemas.microsoft.com/office/powerpoint/2010/main" val="2761401664"/>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FACBC-AAFE-47B6-8224-050D1DCFBCE5}"/>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AF08184-8FEF-4510-A049-660951F33C3B}" type="datetimeFigureOut">
              <a:rPr lang="en-US" altLang="en-US"/>
              <a:pPr>
                <a:defRPr/>
              </a:pPr>
              <a:t>5/9/2024</a:t>
            </a:fld>
            <a:endParaRPr lang="en-US" altLang="en-US" dirty="0"/>
          </a:p>
        </p:txBody>
      </p:sp>
      <p:sp>
        <p:nvSpPr>
          <p:cNvPr id="8" name="Footer Placeholder 7">
            <a:extLst>
              <a:ext uri="{FF2B5EF4-FFF2-40B4-BE49-F238E27FC236}">
                <a16:creationId xmlns:a16="http://schemas.microsoft.com/office/drawing/2014/main" id="{AA731A29-EAAC-4E7D-A62C-A16B33B6E1B9}"/>
              </a:ext>
            </a:extLst>
          </p:cNvPr>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endParaRPr lang="en-US" altLang="en-US" dirty="0"/>
          </a:p>
        </p:txBody>
      </p:sp>
      <p:sp>
        <p:nvSpPr>
          <p:cNvPr id="9" name="Slide Number Placeholder 8">
            <a:extLst>
              <a:ext uri="{FF2B5EF4-FFF2-40B4-BE49-F238E27FC236}">
                <a16:creationId xmlns:a16="http://schemas.microsoft.com/office/drawing/2014/main" id="{D34BE737-5761-4E35-988C-A312905239D4}"/>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44EBC236-076A-4346-B038-81299B1633E8}" type="slidenum">
              <a:rPr lang="en-US" altLang="en-US"/>
              <a:pPr>
                <a:defRPr/>
              </a:pPr>
              <a:t>‹#›</a:t>
            </a:fld>
            <a:endParaRPr lang="en-US" altLang="en-US" dirty="0"/>
          </a:p>
        </p:txBody>
      </p:sp>
    </p:spTree>
    <p:extLst>
      <p:ext uri="{BB962C8B-B14F-4D97-AF65-F5344CB8AC3E}">
        <p14:creationId xmlns:p14="http://schemas.microsoft.com/office/powerpoint/2010/main" val="2145537982"/>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8AC781-FDD7-4F13-A968-5D276B12A891}"/>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2A00367-7EB8-4DA2-BB56-91F3C8FCB906}" type="datetimeFigureOut">
              <a:rPr lang="en-US" altLang="en-US"/>
              <a:pPr>
                <a:defRPr/>
              </a:pPr>
              <a:t>5/9/2024</a:t>
            </a:fld>
            <a:endParaRPr lang="en-US" altLang="en-US" dirty="0"/>
          </a:p>
        </p:txBody>
      </p:sp>
      <p:sp>
        <p:nvSpPr>
          <p:cNvPr id="4" name="Footer Placeholder 3">
            <a:extLst>
              <a:ext uri="{FF2B5EF4-FFF2-40B4-BE49-F238E27FC236}">
                <a16:creationId xmlns:a16="http://schemas.microsoft.com/office/drawing/2014/main" id="{955AAADF-155E-468D-BA96-B02325C64FC8}"/>
              </a:ext>
            </a:extLst>
          </p:cNvPr>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endParaRPr lang="en-US" altLang="en-US" dirty="0"/>
          </a:p>
        </p:txBody>
      </p:sp>
      <p:sp>
        <p:nvSpPr>
          <p:cNvPr id="5" name="Slide Number Placeholder 4">
            <a:extLst>
              <a:ext uri="{FF2B5EF4-FFF2-40B4-BE49-F238E27FC236}">
                <a16:creationId xmlns:a16="http://schemas.microsoft.com/office/drawing/2014/main" id="{6BB58EBA-3ABC-4BE3-B35D-AAB683BDF8AE}"/>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41FEE62-1536-488B-A5ED-1A9A4DF15981}" type="slidenum">
              <a:rPr lang="en-US" altLang="en-US"/>
              <a:pPr>
                <a:defRPr/>
              </a:pPr>
              <a:t>‹#›</a:t>
            </a:fld>
            <a:endParaRPr lang="en-US" altLang="en-US" dirty="0"/>
          </a:p>
        </p:txBody>
      </p:sp>
    </p:spTree>
    <p:extLst>
      <p:ext uri="{BB962C8B-B14F-4D97-AF65-F5344CB8AC3E}">
        <p14:creationId xmlns:p14="http://schemas.microsoft.com/office/powerpoint/2010/main" val="883380742"/>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6321F5-2035-4595-8727-F764CB79F842}"/>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6D177C7-4872-403D-A96A-55A60FDC6B11}" type="datetimeFigureOut">
              <a:rPr lang="en-US" altLang="en-US"/>
              <a:pPr>
                <a:defRPr/>
              </a:pPr>
              <a:t>5/9/2024</a:t>
            </a:fld>
            <a:endParaRPr lang="en-US" altLang="en-US" dirty="0"/>
          </a:p>
        </p:txBody>
      </p:sp>
      <p:sp>
        <p:nvSpPr>
          <p:cNvPr id="3" name="Footer Placeholder 2">
            <a:extLst>
              <a:ext uri="{FF2B5EF4-FFF2-40B4-BE49-F238E27FC236}">
                <a16:creationId xmlns:a16="http://schemas.microsoft.com/office/drawing/2014/main" id="{946D3146-A107-48C9-BC57-A20897760AF6}"/>
              </a:ext>
            </a:extLst>
          </p:cNvPr>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endParaRPr lang="en-US" altLang="en-US" dirty="0"/>
          </a:p>
        </p:txBody>
      </p:sp>
      <p:sp>
        <p:nvSpPr>
          <p:cNvPr id="4" name="Slide Number Placeholder 3">
            <a:extLst>
              <a:ext uri="{FF2B5EF4-FFF2-40B4-BE49-F238E27FC236}">
                <a16:creationId xmlns:a16="http://schemas.microsoft.com/office/drawing/2014/main" id="{BBBCB8C7-112A-4CA2-90E1-88A9E8A402C0}"/>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D9915B2-AFAF-4FAD-94CC-611F11408D6D}" type="slidenum">
              <a:rPr lang="en-US" altLang="en-US"/>
              <a:pPr>
                <a:defRPr/>
              </a:pPr>
              <a:t>‹#›</a:t>
            </a:fld>
            <a:endParaRPr lang="en-US" altLang="en-US" dirty="0"/>
          </a:p>
        </p:txBody>
      </p:sp>
    </p:spTree>
    <p:extLst>
      <p:ext uri="{BB962C8B-B14F-4D97-AF65-F5344CB8AC3E}">
        <p14:creationId xmlns:p14="http://schemas.microsoft.com/office/powerpoint/2010/main" val="4052726729"/>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A758494A-7ADC-4FA7-819E-2834B48FF365}"/>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0873DEA-835A-4693-AB30-4D711BADE628}" type="datetimeFigureOut">
              <a:rPr lang="en-US" altLang="en-US"/>
              <a:pPr>
                <a:defRPr/>
              </a:pPr>
              <a:t>5/9/2024</a:t>
            </a:fld>
            <a:endParaRPr lang="en-US" altLang="en-US" dirty="0"/>
          </a:p>
        </p:txBody>
      </p:sp>
      <p:sp>
        <p:nvSpPr>
          <p:cNvPr id="6" name="Footer Placeholder 5">
            <a:extLst>
              <a:ext uri="{FF2B5EF4-FFF2-40B4-BE49-F238E27FC236}">
                <a16:creationId xmlns:a16="http://schemas.microsoft.com/office/drawing/2014/main" id="{5310E911-1F1A-4E8E-92BC-42B9DFFAEC1E}"/>
              </a:ext>
            </a:extLst>
          </p:cNvPr>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endParaRPr lang="en-US" altLang="en-US" dirty="0"/>
          </a:p>
        </p:txBody>
      </p:sp>
      <p:sp>
        <p:nvSpPr>
          <p:cNvPr id="7" name="Slide Number Placeholder 6">
            <a:extLst>
              <a:ext uri="{FF2B5EF4-FFF2-40B4-BE49-F238E27FC236}">
                <a16:creationId xmlns:a16="http://schemas.microsoft.com/office/drawing/2014/main" id="{50AF4738-0DC7-44F4-AC48-B3C7484BF665}"/>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E640BD9F-D079-450E-88AD-DC576E6B6B63}" type="slidenum">
              <a:rPr lang="en-US" altLang="en-US"/>
              <a:pPr>
                <a:defRPr/>
              </a:pPr>
              <a:t>‹#›</a:t>
            </a:fld>
            <a:endParaRPr lang="en-US" altLang="en-US" dirty="0"/>
          </a:p>
        </p:txBody>
      </p:sp>
    </p:spTree>
    <p:extLst>
      <p:ext uri="{BB962C8B-B14F-4D97-AF65-F5344CB8AC3E}">
        <p14:creationId xmlns:p14="http://schemas.microsoft.com/office/powerpoint/2010/main" val="3410605672"/>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DE8EAF76-E1B3-4C6A-B002-DBA75AA0FCFF}"/>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EB4572D-4921-4BB3-A5A2-5794794B51CD}" type="datetimeFigureOut">
              <a:rPr lang="en-US" altLang="en-US"/>
              <a:pPr>
                <a:defRPr/>
              </a:pPr>
              <a:t>5/9/2024</a:t>
            </a:fld>
            <a:endParaRPr lang="en-US" altLang="en-US" dirty="0"/>
          </a:p>
        </p:txBody>
      </p:sp>
      <p:sp>
        <p:nvSpPr>
          <p:cNvPr id="6" name="Footer Placeholder 5">
            <a:extLst>
              <a:ext uri="{FF2B5EF4-FFF2-40B4-BE49-F238E27FC236}">
                <a16:creationId xmlns:a16="http://schemas.microsoft.com/office/drawing/2014/main" id="{DBBABB14-104E-4645-8A67-FB06A31550C7}"/>
              </a:ext>
            </a:extLst>
          </p:cNvPr>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endParaRPr lang="en-US" altLang="en-US" dirty="0"/>
          </a:p>
        </p:txBody>
      </p:sp>
      <p:sp>
        <p:nvSpPr>
          <p:cNvPr id="7" name="Slide Number Placeholder 6">
            <a:extLst>
              <a:ext uri="{FF2B5EF4-FFF2-40B4-BE49-F238E27FC236}">
                <a16:creationId xmlns:a16="http://schemas.microsoft.com/office/drawing/2014/main" id="{86C99F09-A480-40E9-8BDF-ADF19F2ED03F}"/>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26F9262-4E28-443D-82A7-AE52F302D1C3}" type="slidenum">
              <a:rPr lang="en-US" altLang="en-US"/>
              <a:pPr>
                <a:defRPr/>
              </a:pPr>
              <a:t>‹#›</a:t>
            </a:fld>
            <a:endParaRPr lang="en-US" altLang="en-US" dirty="0"/>
          </a:p>
        </p:txBody>
      </p:sp>
    </p:spTree>
    <p:extLst>
      <p:ext uri="{BB962C8B-B14F-4D97-AF65-F5344CB8AC3E}">
        <p14:creationId xmlns:p14="http://schemas.microsoft.com/office/powerpoint/2010/main" val="3140310275"/>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CFC3E9-7643-4106-9235-158C4081FFFF}"/>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191881F-57E7-4550-B97D-30CE246C02F7}" type="datetimeFigureOut">
              <a:rPr lang="en-US" altLang="en-US"/>
              <a:pPr>
                <a:defRPr/>
              </a:pPr>
              <a:t>5/9/2024</a:t>
            </a:fld>
            <a:endParaRPr lang="en-US" altLang="en-US" dirty="0"/>
          </a:p>
        </p:txBody>
      </p:sp>
      <p:sp>
        <p:nvSpPr>
          <p:cNvPr id="5" name="Footer Placeholder 4">
            <a:extLst>
              <a:ext uri="{FF2B5EF4-FFF2-40B4-BE49-F238E27FC236}">
                <a16:creationId xmlns:a16="http://schemas.microsoft.com/office/drawing/2014/main" id="{CF154D46-BD71-4228-8B81-02FE9B892514}"/>
              </a:ext>
            </a:extLst>
          </p:cNvPr>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endParaRPr lang="en-US" altLang="en-US" dirty="0"/>
          </a:p>
        </p:txBody>
      </p:sp>
      <p:sp>
        <p:nvSpPr>
          <p:cNvPr id="6" name="Slide Number Placeholder 5">
            <a:extLst>
              <a:ext uri="{FF2B5EF4-FFF2-40B4-BE49-F238E27FC236}">
                <a16:creationId xmlns:a16="http://schemas.microsoft.com/office/drawing/2014/main" id="{7C36D9BD-9409-4A26-8EBF-F6660E10A771}"/>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143F76E3-2BF3-49EA-971E-CF7ADDEFEACA}" type="slidenum">
              <a:rPr lang="en-US" altLang="en-US"/>
              <a:pPr>
                <a:defRPr/>
              </a:pPr>
              <a:t>‹#›</a:t>
            </a:fld>
            <a:endParaRPr lang="en-US" altLang="en-US" dirty="0"/>
          </a:p>
        </p:txBody>
      </p:sp>
    </p:spTree>
    <p:extLst>
      <p:ext uri="{BB962C8B-B14F-4D97-AF65-F5344CB8AC3E}">
        <p14:creationId xmlns:p14="http://schemas.microsoft.com/office/powerpoint/2010/main" val="4178753604"/>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83DF32-E195-45A1-9189-8459B6B77CAD}"/>
              </a:ext>
            </a:extLst>
          </p:cNvPr>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BDC6BF1C-C9DC-4FDC-AC80-181CC916068F}" type="datetimeFigureOut">
              <a:rPr lang="en-US" altLang="en-US"/>
              <a:pPr>
                <a:defRPr/>
              </a:pPr>
              <a:t>5/9/2024</a:t>
            </a:fld>
            <a:endParaRPr lang="en-US" altLang="en-US" dirty="0"/>
          </a:p>
        </p:txBody>
      </p:sp>
      <p:sp>
        <p:nvSpPr>
          <p:cNvPr id="5" name="Footer Placeholder 4">
            <a:extLst>
              <a:ext uri="{FF2B5EF4-FFF2-40B4-BE49-F238E27FC236}">
                <a16:creationId xmlns:a16="http://schemas.microsoft.com/office/drawing/2014/main" id="{E6C43FF7-D3CC-4F03-A430-CB6A16C6628F}"/>
              </a:ext>
            </a:extLst>
          </p:cNvPr>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endParaRPr lang="en-US" altLang="en-US" dirty="0"/>
          </a:p>
        </p:txBody>
      </p:sp>
      <p:sp>
        <p:nvSpPr>
          <p:cNvPr id="6" name="Slide Number Placeholder 5">
            <a:extLst>
              <a:ext uri="{FF2B5EF4-FFF2-40B4-BE49-F238E27FC236}">
                <a16:creationId xmlns:a16="http://schemas.microsoft.com/office/drawing/2014/main" id="{F25BC1D2-7D8E-456B-A40C-C58E34386023}"/>
              </a:ext>
            </a:extLst>
          </p:cNvPr>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FC85001-6B94-4565-8898-C6E5096DD639}" type="slidenum">
              <a:rPr lang="en-US" altLang="en-US"/>
              <a:pPr>
                <a:defRPr/>
              </a:pPr>
              <a:t>‹#›</a:t>
            </a:fld>
            <a:endParaRPr lang="en-US" altLang="en-US" dirty="0"/>
          </a:p>
        </p:txBody>
      </p:sp>
    </p:spTree>
    <p:extLst>
      <p:ext uri="{BB962C8B-B14F-4D97-AF65-F5344CB8AC3E}">
        <p14:creationId xmlns:p14="http://schemas.microsoft.com/office/powerpoint/2010/main" val="1090537671"/>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FCA1CB5-AD55-414D-BABE-364829FE7091}"/>
              </a:ext>
            </a:extLst>
          </p:cNvPr>
          <p:cNvSpPr>
            <a:spLocks noGrp="1"/>
          </p:cNvSpPr>
          <p:nvPr>
            <p:ph type="title"/>
          </p:nvPr>
        </p:nvSpPr>
        <p:spPr bwMode="auto">
          <a:xfrm>
            <a:off x="457200" y="115887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D18C33E8-B18F-48E0-A271-411F5DA7A69D}"/>
              </a:ext>
            </a:extLst>
          </p:cNvPr>
          <p:cNvSpPr>
            <a:spLocks noGrp="1"/>
          </p:cNvSpPr>
          <p:nvPr>
            <p:ph type="body" idx="1"/>
          </p:nvPr>
        </p:nvSpPr>
        <p:spPr bwMode="auto">
          <a:xfrm>
            <a:off x="457200" y="2452688"/>
            <a:ext cx="82296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 name="Rectangle 7">
            <a:extLst>
              <a:ext uri="{FF2B5EF4-FFF2-40B4-BE49-F238E27FC236}">
                <a16:creationId xmlns:a16="http://schemas.microsoft.com/office/drawing/2014/main" id="{6CDF79B9-C119-4F47-A077-AC2003ACFBAE}"/>
              </a:ext>
            </a:extLst>
          </p:cNvPr>
          <p:cNvSpPr/>
          <p:nvPr userDrawn="1"/>
        </p:nvSpPr>
        <p:spPr>
          <a:xfrm>
            <a:off x="0" y="6569075"/>
            <a:ext cx="9144000" cy="288925"/>
          </a:xfrm>
          <a:prstGeom prst="rect">
            <a:avLst/>
          </a:prstGeom>
          <a:solidFill>
            <a:srgbClr val="FFCC00"/>
          </a:solidFill>
          <a:ln>
            <a:noFill/>
          </a:ln>
          <a:effectLst/>
        </p:spPr>
        <p:style>
          <a:lnRef idx="1">
            <a:schemeClr val="accent6"/>
          </a:lnRef>
          <a:fillRef idx="3">
            <a:schemeClr val="accent6"/>
          </a:fillRef>
          <a:effectRef idx="2">
            <a:schemeClr val="accent6"/>
          </a:effectRef>
          <a:fontRef idx="minor">
            <a:schemeClr val="lt1"/>
          </a:fontRef>
        </p:style>
        <p:txBody>
          <a:bodyPr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eaLnBrk="1" hangingPunct="1">
              <a:defRPr/>
            </a:pPr>
            <a:endParaRPr lang="en-US" altLang="en-US" dirty="0">
              <a:solidFill>
                <a:srgbClr val="FFFFFF"/>
              </a:solidFill>
            </a:endParaRPr>
          </a:p>
        </p:txBody>
      </p:sp>
      <p:sp>
        <p:nvSpPr>
          <p:cNvPr id="9" name="Rectangle 8">
            <a:extLst>
              <a:ext uri="{FF2B5EF4-FFF2-40B4-BE49-F238E27FC236}">
                <a16:creationId xmlns:a16="http://schemas.microsoft.com/office/drawing/2014/main" id="{FC66D138-FA02-442D-AE68-5EAD317AF5B0}"/>
              </a:ext>
            </a:extLst>
          </p:cNvPr>
          <p:cNvSpPr>
            <a:spLocks noChangeArrowheads="1"/>
          </p:cNvSpPr>
          <p:nvPr userDrawn="1"/>
        </p:nvSpPr>
        <p:spPr bwMode="auto">
          <a:xfrm>
            <a:off x="0" y="0"/>
            <a:ext cx="9144000" cy="831850"/>
          </a:xfrm>
          <a:prstGeom prst="rect">
            <a:avLst/>
          </a:prstGeom>
          <a:solidFill>
            <a:schemeClr val="tx1"/>
          </a:solidFill>
          <a:ln>
            <a:noFill/>
          </a:ln>
          <a:effectLst>
            <a:outerShdw blurRad="40000" dist="23000" dir="5400000" rotWithShape="0">
              <a:srgbClr val="808080">
                <a:alpha val="34998"/>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lgn="ctr" eaLnBrk="1" hangingPunct="1">
              <a:defRPr/>
            </a:pPr>
            <a:endParaRPr lang="en-US" altLang="en-US" dirty="0">
              <a:solidFill>
                <a:srgbClr val="FFFFFF"/>
              </a:solidFill>
            </a:endParaRPr>
          </a:p>
        </p:txBody>
      </p:sp>
      <p:pic>
        <p:nvPicPr>
          <p:cNvPr id="1030" name="Picture 9" descr="UMBClogo_offset_cmyk-W.eps">
            <a:extLst>
              <a:ext uri="{FF2B5EF4-FFF2-40B4-BE49-F238E27FC236}">
                <a16:creationId xmlns:a16="http://schemas.microsoft.com/office/drawing/2014/main" id="{79F71F7E-0737-45BA-9B8A-863FC040F9B6}"/>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68275" y="127000"/>
            <a:ext cx="3316288"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TextBox 10">
            <a:extLst>
              <a:ext uri="{FF2B5EF4-FFF2-40B4-BE49-F238E27FC236}">
                <a16:creationId xmlns:a16="http://schemas.microsoft.com/office/drawing/2014/main" id="{5D058375-1D84-4824-97BF-2F976086C702}"/>
              </a:ext>
            </a:extLst>
          </p:cNvPr>
          <p:cNvSpPr txBox="1">
            <a:spLocks noChangeArrowheads="1"/>
          </p:cNvSpPr>
          <p:nvPr userDrawn="1"/>
        </p:nvSpPr>
        <p:spPr bwMode="auto">
          <a:xfrm>
            <a:off x="7181850" y="6542088"/>
            <a:ext cx="1822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defTabSz="457200" fontAlgn="base">
              <a:spcBef>
                <a:spcPct val="0"/>
              </a:spcBef>
              <a:spcAft>
                <a:spcPct val="0"/>
              </a:spcAft>
              <a:defRPr>
                <a:solidFill>
                  <a:schemeClr val="tx1"/>
                </a:solidFill>
                <a:latin typeface="Calibri" charset="0"/>
                <a:ea typeface="ＭＳ Ｐゴシック" charset="-128"/>
              </a:defRPr>
            </a:lvl6pPr>
            <a:lvl7pPr marL="2971800" indent="-228600" defTabSz="457200" fontAlgn="base">
              <a:spcBef>
                <a:spcPct val="0"/>
              </a:spcBef>
              <a:spcAft>
                <a:spcPct val="0"/>
              </a:spcAft>
              <a:defRPr>
                <a:solidFill>
                  <a:schemeClr val="tx1"/>
                </a:solidFill>
                <a:latin typeface="Calibri" charset="0"/>
                <a:ea typeface="ＭＳ Ｐゴシック" charset="-128"/>
              </a:defRPr>
            </a:lvl7pPr>
            <a:lvl8pPr marL="3429000" indent="-228600" defTabSz="457200" fontAlgn="base">
              <a:spcBef>
                <a:spcPct val="0"/>
              </a:spcBef>
              <a:spcAft>
                <a:spcPct val="0"/>
              </a:spcAft>
              <a:defRPr>
                <a:solidFill>
                  <a:schemeClr val="tx1"/>
                </a:solidFill>
                <a:latin typeface="Calibri" charset="0"/>
                <a:ea typeface="ＭＳ Ｐゴシック" charset="-128"/>
              </a:defRPr>
            </a:lvl8pPr>
            <a:lvl9pPr marL="3886200" indent="-228600" defTabSz="457200" fontAlgn="base">
              <a:spcBef>
                <a:spcPct val="0"/>
              </a:spcBef>
              <a:spcAft>
                <a:spcPct val="0"/>
              </a:spcAft>
              <a:defRPr>
                <a:solidFill>
                  <a:schemeClr val="tx1"/>
                </a:solidFill>
                <a:latin typeface="Calibri" charset="0"/>
                <a:ea typeface="ＭＳ Ｐゴシック" charset="-128"/>
              </a:defRPr>
            </a:lvl9pPr>
          </a:lstStyle>
          <a:p>
            <a:pPr algn="r" eaLnBrk="1" hangingPunct="1">
              <a:defRPr/>
            </a:pPr>
            <a:r>
              <a:rPr lang="en-US" altLang="en-US" sz="1400" dirty="0">
                <a:latin typeface="Arial" charset="0"/>
              </a:rPr>
              <a:t>www.umbc.edu</a:t>
            </a:r>
          </a:p>
        </p:txBody>
      </p:sp>
      <p:sp>
        <p:nvSpPr>
          <p:cNvPr id="2" name="Rectangle 1">
            <a:extLst>
              <a:ext uri="{FF2B5EF4-FFF2-40B4-BE49-F238E27FC236}">
                <a16:creationId xmlns:a16="http://schemas.microsoft.com/office/drawing/2014/main" id="{85BDA649-C2C1-4BF8-830F-F9416E1C0507}"/>
              </a:ext>
            </a:extLst>
          </p:cNvPr>
          <p:cNvSpPr/>
          <p:nvPr userDrawn="1"/>
        </p:nvSpPr>
        <p:spPr>
          <a:xfrm>
            <a:off x="7425466" y="581728"/>
            <a:ext cx="1713931" cy="246221"/>
          </a:xfrm>
          <a:prstGeom prst="rect">
            <a:avLst/>
          </a:prstGeom>
        </p:spPr>
        <p:txBody>
          <a:bodyPr wrap="none">
            <a:spAutoFit/>
          </a:bodyPr>
          <a:lstStyle/>
          <a:p>
            <a:pPr algn="r"/>
            <a:r>
              <a:rPr lang="en-US" sz="1000" dirty="0">
                <a:solidFill>
                  <a:srgbClr val="FFC000"/>
                </a:solidFill>
              </a:rPr>
              <a:t>Data 603 - Big Data Platforms</a:t>
            </a:r>
          </a:p>
        </p:txBody>
      </p:sp>
    </p:spTree>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Lst>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txStyles>
    <p:titleStyle>
      <a:lvl1pPr algn="ctr" defTabSz="457200" rtl="0" eaLnBrk="0" fontAlgn="base" hangingPunct="0">
        <a:spcBef>
          <a:spcPct val="0"/>
        </a:spcBef>
        <a:spcAft>
          <a:spcPct val="0"/>
        </a:spcAft>
        <a:defRPr sz="4400" kern="1200">
          <a:solidFill>
            <a:schemeClr val="tx1"/>
          </a:solidFill>
          <a:latin typeface="+mj-lt"/>
          <a:ea typeface="MS PGothic" panose="020B0600070205080204" pitchFamily="34" charset="-128"/>
          <a:cs typeface="+mj-cs"/>
        </a:defRPr>
      </a:lvl1pPr>
      <a:lvl2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defRPr>
      </a:lvl2pPr>
      <a:lvl3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defRPr>
      </a:lvl3pPr>
      <a:lvl4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defRPr>
      </a:lvl4pPr>
      <a:lvl5pPr algn="ctr" defTabSz="457200" rtl="0" eaLnBrk="0" fontAlgn="base" hangingPunct="0">
        <a:spcBef>
          <a:spcPct val="0"/>
        </a:spcBef>
        <a:spcAft>
          <a:spcPct val="0"/>
        </a:spcAft>
        <a:defRPr sz="4400">
          <a:solidFill>
            <a:schemeClr val="tx1"/>
          </a:solidFill>
          <a:latin typeface="Calibri" charset="0"/>
          <a:ea typeface="MS PGothic" panose="020B0600070205080204" pitchFamily="34"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D5D55941-5515-410D-94E7-D74EF2EE48E8}"/>
              </a:ext>
            </a:extLst>
          </p:cNvPr>
          <p:cNvSpPr>
            <a:spLocks noGrp="1"/>
          </p:cNvSpPr>
          <p:nvPr>
            <p:ph type="title"/>
          </p:nvPr>
        </p:nvSpPr>
        <p:spPr>
          <a:xfrm>
            <a:off x="608029" y="2431493"/>
            <a:ext cx="8229600" cy="1143000"/>
          </a:xfrm>
        </p:spPr>
        <p:txBody>
          <a:bodyPr>
            <a:normAutofit/>
          </a:bodyPr>
          <a:lstStyle/>
          <a:p>
            <a:pPr eaLnBrk="1" hangingPunct="1"/>
            <a:r>
              <a:rPr lang="en-US" altLang="en-US" sz="6600" b="1">
                <a:latin typeface="Microsoft Himalaya" panose="01010100010101010101" pitchFamily="2" charset="0"/>
                <a:ea typeface="Microsoft Himalaya" panose="01010100010101010101" pitchFamily="2" charset="0"/>
                <a:cs typeface="Microsoft Himalaya" panose="01010100010101010101" pitchFamily="2" charset="0"/>
              </a:rPr>
              <a:t>Next Day Temperature Predection</a:t>
            </a:r>
            <a:endParaRPr lang="en-US" altLang="en-US" sz="6600" b="1" dirty="0">
              <a:latin typeface="Microsoft Himalaya" panose="01010100010101010101" pitchFamily="2" charset="0"/>
              <a:ea typeface="Microsoft Himalaya" panose="01010100010101010101" pitchFamily="2" charset="0"/>
              <a:cs typeface="Microsoft Himalaya" panose="01010100010101010101" pitchFamily="2" charset="0"/>
            </a:endParaRPr>
          </a:p>
        </p:txBody>
      </p:sp>
      <p:sp>
        <p:nvSpPr>
          <p:cNvPr id="2" name="Content Placeholder 1">
            <a:extLst>
              <a:ext uri="{FF2B5EF4-FFF2-40B4-BE49-F238E27FC236}">
                <a16:creationId xmlns:a16="http://schemas.microsoft.com/office/drawing/2014/main" id="{EC485C55-4435-45CD-6416-ACCB3DCAFA72}"/>
              </a:ext>
            </a:extLst>
          </p:cNvPr>
          <p:cNvSpPr>
            <a:spLocks noGrp="1"/>
          </p:cNvSpPr>
          <p:nvPr>
            <p:ph idx="1"/>
          </p:nvPr>
        </p:nvSpPr>
        <p:spPr>
          <a:xfrm>
            <a:off x="4364610" y="4290915"/>
            <a:ext cx="3609352" cy="1921349"/>
          </a:xfrm>
        </p:spPr>
        <p:txBody>
          <a:bodyPr/>
          <a:lstStyle/>
          <a:p>
            <a:pPr marL="0" indent="0" algn="ctr">
              <a:buNone/>
            </a:pPr>
            <a:r>
              <a:rPr lang="en-US" u="sng">
                <a:latin typeface="Times New Roman" panose="02020603050405020304" pitchFamily="18" charset="0"/>
                <a:cs typeface="Times New Roman" panose="02020603050405020304" pitchFamily="18" charset="0"/>
              </a:rPr>
              <a:t>Team: </a:t>
            </a:r>
          </a:p>
          <a:p>
            <a:pPr marL="0" indent="0" algn="ctr">
              <a:buNone/>
            </a:pPr>
            <a:r>
              <a:rPr lang="en-US">
                <a:latin typeface="Times New Roman" panose="02020603050405020304" pitchFamily="18" charset="0"/>
                <a:cs typeface="Times New Roman" panose="02020603050405020304" pitchFamily="18" charset="0"/>
              </a:rPr>
              <a:t>Sumanth Gannamani</a:t>
            </a:r>
          </a:p>
          <a:p>
            <a:pPr marL="0" indent="0" algn="ctr">
              <a:buNone/>
            </a:pPr>
            <a:r>
              <a:rPr lang="en-US">
                <a:latin typeface="Times New Roman" panose="02020603050405020304" pitchFamily="18" charset="0"/>
                <a:cs typeface="Times New Roman" panose="02020603050405020304" pitchFamily="18" charset="0"/>
              </a:rPr>
              <a:t>Snehith Jaggari</a:t>
            </a:r>
            <a:endParaRPr lang="en-I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C28F4-FB92-2F87-E667-B5230D686225}"/>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2B714BE5-6286-954C-516A-AFD56A35366E}"/>
              </a:ext>
            </a:extLst>
          </p:cNvPr>
          <p:cNvSpPr>
            <a:spLocks noGrp="1"/>
          </p:cNvSpPr>
          <p:nvPr>
            <p:ph idx="1"/>
          </p:nvPr>
        </p:nvSpPr>
        <p:spPr/>
        <p:txBody>
          <a:bodyPr/>
          <a:lstStyle/>
          <a:p>
            <a:pPr marL="0" indent="0" algn="just">
              <a:buNone/>
            </a:pPr>
            <a:r>
              <a:rPr lang="en-US" sz="1800" dirty="0">
                <a:latin typeface="Times New Roman" panose="02020603050405020304" pitchFamily="18" charset="0"/>
                <a:cs typeface="Times New Roman" panose="02020603050405020304" pitchFamily="18" charset="0"/>
              </a:rPr>
              <a:t>The objective of this project is to develop a predictive model capable of forecasting the next day's minimum and maximum temperatures. This involves using historical weather data to identify the most predictive features among various meteorological variables, while excluding less relevant attributes such as date and station number. The project will employ exploratory data analysis and automatic feature elimination techniques to enhance model accuracy and reliability.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6566440"/>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4ACD5-46E5-0613-4CFD-AB8A6E277B2C}"/>
              </a:ext>
            </a:extLst>
          </p:cNvPr>
          <p:cNvSpPr>
            <a:spLocks noGrp="1"/>
          </p:cNvSpPr>
          <p:nvPr>
            <p:ph type="title"/>
          </p:nvPr>
        </p:nvSpPr>
        <p:spPr>
          <a:xfrm>
            <a:off x="457200" y="1158875"/>
            <a:ext cx="8229600" cy="1143000"/>
          </a:xfrm>
        </p:spPr>
        <p:txBody>
          <a:bodyPr wrap="square" anchor="ctr">
            <a:normAutofit/>
          </a:bodyPr>
          <a:lstStyle/>
          <a:p>
            <a:r>
              <a:rPr lang="en-IN" dirty="0"/>
              <a:t>Data Set</a:t>
            </a:r>
          </a:p>
        </p:txBody>
      </p:sp>
      <p:sp>
        <p:nvSpPr>
          <p:cNvPr id="3" name="Content Placeholder 2">
            <a:extLst>
              <a:ext uri="{FF2B5EF4-FFF2-40B4-BE49-F238E27FC236}">
                <a16:creationId xmlns:a16="http://schemas.microsoft.com/office/drawing/2014/main" id="{B1EE5D7B-478F-5139-830A-FECBC87EE9FB}"/>
              </a:ext>
            </a:extLst>
          </p:cNvPr>
          <p:cNvSpPr>
            <a:spLocks noGrp="1"/>
          </p:cNvSpPr>
          <p:nvPr>
            <p:ph sz="half" idx="1"/>
          </p:nvPr>
        </p:nvSpPr>
        <p:spPr>
          <a:xfrm>
            <a:off x="457199" y="2301875"/>
            <a:ext cx="4685071" cy="3824288"/>
          </a:xfrm>
        </p:spPr>
        <p:txBody>
          <a:bodyPr wrap="square" anchor="t">
            <a:normAutofit/>
          </a:bodyPr>
          <a:lstStyle/>
          <a:p>
            <a:pPr marL="0" indent="0">
              <a:lnSpc>
                <a:spcPct val="90000"/>
              </a:lnSpc>
              <a:buNone/>
            </a:pPr>
            <a:r>
              <a:rPr lang="en-US" sz="2000" dirty="0"/>
              <a:t>The dataset consists of 7,750 instances and 25 attributes, including various meteorological variables along with the target variables of next day's minimum and maximum temperatures. The first 23 attributes encompass potential predictors like atmospheric pressure levels, humidity, wind speed, and others. However, not all attributes are directly relevant to the forecasting task, such as date and station number. The project will involve an initial exploratory data analysis to identify the most impactful features.</a:t>
            </a:r>
          </a:p>
          <a:p>
            <a:pPr marL="0" indent="0">
              <a:lnSpc>
                <a:spcPct val="90000"/>
              </a:lnSpc>
              <a:buNone/>
            </a:pPr>
            <a:endParaRPr lang="en-US" sz="2000" dirty="0"/>
          </a:p>
          <a:p>
            <a:pPr marL="0" indent="0">
              <a:lnSpc>
                <a:spcPct val="90000"/>
              </a:lnSpc>
              <a:buNone/>
            </a:pPr>
            <a:endParaRPr lang="en-IN" sz="2000" dirty="0"/>
          </a:p>
        </p:txBody>
      </p:sp>
      <p:pic>
        <p:nvPicPr>
          <p:cNvPr id="6" name="Picture 5">
            <a:extLst>
              <a:ext uri="{FF2B5EF4-FFF2-40B4-BE49-F238E27FC236}">
                <a16:creationId xmlns:a16="http://schemas.microsoft.com/office/drawing/2014/main" id="{24753368-28FD-8120-498C-AFF3AF2FE545}"/>
              </a:ext>
            </a:extLst>
          </p:cNvPr>
          <p:cNvPicPr>
            <a:picLocks noChangeAspect="1"/>
          </p:cNvPicPr>
          <p:nvPr/>
        </p:nvPicPr>
        <p:blipFill>
          <a:blip r:embed="rId2"/>
          <a:stretch>
            <a:fillRect/>
          </a:stretch>
        </p:blipFill>
        <p:spPr>
          <a:xfrm>
            <a:off x="5142270" y="2773593"/>
            <a:ext cx="3539613" cy="2113039"/>
          </a:xfrm>
          <a:prstGeom prst="rect">
            <a:avLst/>
          </a:prstGeom>
          <a:noFill/>
        </p:spPr>
      </p:pic>
    </p:spTree>
    <p:extLst>
      <p:ext uri="{BB962C8B-B14F-4D97-AF65-F5344CB8AC3E}">
        <p14:creationId xmlns:p14="http://schemas.microsoft.com/office/powerpoint/2010/main" val="4012168327"/>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90A3F-A231-3FC2-0311-358DC2E09761}"/>
              </a:ext>
            </a:extLst>
          </p:cNvPr>
          <p:cNvSpPr>
            <a:spLocks noGrp="1"/>
          </p:cNvSpPr>
          <p:nvPr>
            <p:ph type="title"/>
          </p:nvPr>
        </p:nvSpPr>
        <p:spPr>
          <a:xfrm>
            <a:off x="457200" y="863907"/>
            <a:ext cx="8229600" cy="1143000"/>
          </a:xfrm>
        </p:spPr>
        <p:txBody>
          <a:bodyPr wrap="square" anchor="ctr">
            <a:normAutofit/>
          </a:bodyPr>
          <a:lstStyle/>
          <a:p>
            <a:r>
              <a:rPr lang="en-IN" dirty="0"/>
              <a:t>Data Cleaning &amp; Analysis</a:t>
            </a:r>
          </a:p>
        </p:txBody>
      </p:sp>
      <p:pic>
        <p:nvPicPr>
          <p:cNvPr id="6" name="Content Placeholder 5">
            <a:extLst>
              <a:ext uri="{FF2B5EF4-FFF2-40B4-BE49-F238E27FC236}">
                <a16:creationId xmlns:a16="http://schemas.microsoft.com/office/drawing/2014/main" id="{7C8AF31D-A6B5-B4FA-8244-AF9F4D2447DE}"/>
              </a:ext>
            </a:extLst>
          </p:cNvPr>
          <p:cNvPicPr>
            <a:picLocks noGrp="1" noChangeAspect="1"/>
          </p:cNvPicPr>
          <p:nvPr>
            <p:ph sz="half" idx="2"/>
          </p:nvPr>
        </p:nvPicPr>
        <p:blipFill rotWithShape="1">
          <a:blip r:embed="rId2"/>
          <a:srcRect r="55" b="4"/>
          <a:stretch/>
        </p:blipFill>
        <p:spPr>
          <a:xfrm>
            <a:off x="457200" y="2174875"/>
            <a:ext cx="4040188" cy="3951288"/>
          </a:xfrm>
          <a:noFill/>
        </p:spPr>
      </p:pic>
      <p:pic>
        <p:nvPicPr>
          <p:cNvPr id="9" name="Picture 8">
            <a:extLst>
              <a:ext uri="{FF2B5EF4-FFF2-40B4-BE49-F238E27FC236}">
                <a16:creationId xmlns:a16="http://schemas.microsoft.com/office/drawing/2014/main" id="{9178FA14-4396-BC8D-A420-EAC297647D16}"/>
              </a:ext>
            </a:extLst>
          </p:cNvPr>
          <p:cNvPicPr>
            <a:picLocks noChangeAspect="1"/>
          </p:cNvPicPr>
          <p:nvPr/>
        </p:nvPicPr>
        <p:blipFill rotWithShape="1">
          <a:blip r:embed="rId3"/>
          <a:srcRect l="22056" r="29100" b="-2"/>
          <a:stretch/>
        </p:blipFill>
        <p:spPr>
          <a:xfrm>
            <a:off x="4645025" y="2174875"/>
            <a:ext cx="4041775" cy="3951288"/>
          </a:xfrm>
          <a:prstGeom prst="rect">
            <a:avLst/>
          </a:prstGeom>
          <a:noFill/>
          <a:ln>
            <a:solidFill>
              <a:schemeClr val="tx1"/>
            </a:solidFill>
          </a:ln>
        </p:spPr>
      </p:pic>
    </p:spTree>
    <p:extLst>
      <p:ext uri="{BB962C8B-B14F-4D97-AF65-F5344CB8AC3E}">
        <p14:creationId xmlns:p14="http://schemas.microsoft.com/office/powerpoint/2010/main" val="2071183183"/>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7C650CED-5DC2-C6AA-109D-BBA629B5867C}"/>
              </a:ext>
            </a:extLst>
          </p:cNvPr>
          <p:cNvPicPr>
            <a:picLocks noGrp="1" noChangeAspect="1"/>
          </p:cNvPicPr>
          <p:nvPr>
            <p:ph sz="half" idx="2"/>
          </p:nvPr>
        </p:nvPicPr>
        <p:blipFill>
          <a:blip r:embed="rId2"/>
          <a:stretch>
            <a:fillRect/>
          </a:stretch>
        </p:blipFill>
        <p:spPr>
          <a:xfrm>
            <a:off x="1248697" y="1230924"/>
            <a:ext cx="6479458" cy="1502444"/>
          </a:xfrm>
        </p:spPr>
      </p:pic>
      <p:pic>
        <p:nvPicPr>
          <p:cNvPr id="1028" name="Picture 4">
            <a:extLst>
              <a:ext uri="{FF2B5EF4-FFF2-40B4-BE49-F238E27FC236}">
                <a16:creationId xmlns:a16="http://schemas.microsoft.com/office/drawing/2014/main" id="{7E24F239-8ED2-4DE3-A46B-8238F5E2F1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2426" y="3124200"/>
            <a:ext cx="4572000" cy="2995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5582691"/>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476A7-7A41-8100-3E02-DCB32C3D43F1}"/>
              </a:ext>
            </a:extLst>
          </p:cNvPr>
          <p:cNvSpPr>
            <a:spLocks noGrp="1"/>
          </p:cNvSpPr>
          <p:nvPr>
            <p:ph type="title"/>
          </p:nvPr>
        </p:nvSpPr>
        <p:spPr>
          <a:xfrm>
            <a:off x="457200" y="1158875"/>
            <a:ext cx="8229600" cy="876402"/>
          </a:xfrm>
        </p:spPr>
        <p:txBody>
          <a:bodyPr/>
          <a:lstStyle/>
          <a:p>
            <a:r>
              <a:rPr lang="en-US" dirty="0"/>
              <a:t>EDA</a:t>
            </a:r>
          </a:p>
        </p:txBody>
      </p:sp>
      <p:pic>
        <p:nvPicPr>
          <p:cNvPr id="2054" name="Picture 6">
            <a:extLst>
              <a:ext uri="{FF2B5EF4-FFF2-40B4-BE49-F238E27FC236}">
                <a16:creationId xmlns:a16="http://schemas.microsoft.com/office/drawing/2014/main" id="{1E6FEC4A-574F-045B-8965-B62A73BC3682}"/>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60745" y="2290763"/>
            <a:ext cx="3831510" cy="383540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72AA2F20-F311-C08E-BD62-0103D24A39C2}"/>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48200" y="2421315"/>
            <a:ext cx="4038600" cy="357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344475"/>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C6610979-466B-6C1D-2043-AE6CF5E856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043" y="1386965"/>
            <a:ext cx="4179267" cy="254593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000CE5BA-D01E-01C1-3CE9-12142B1A50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043" y="4117851"/>
            <a:ext cx="4179267" cy="2107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7781220"/>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2CEA0-D4C7-BF02-5D3A-8A02BCD2FAD6}"/>
              </a:ext>
            </a:extLst>
          </p:cNvPr>
          <p:cNvSpPr>
            <a:spLocks noGrp="1"/>
          </p:cNvSpPr>
          <p:nvPr>
            <p:ph type="title"/>
          </p:nvPr>
        </p:nvSpPr>
        <p:spPr>
          <a:xfrm>
            <a:off x="457200" y="781803"/>
            <a:ext cx="8229600" cy="1143000"/>
          </a:xfrm>
        </p:spPr>
        <p:txBody>
          <a:bodyPr/>
          <a:lstStyle/>
          <a:p>
            <a:r>
              <a:rPr lang="en-IN" dirty="0"/>
              <a:t>Algorithms Approach</a:t>
            </a:r>
          </a:p>
        </p:txBody>
      </p:sp>
      <p:sp>
        <p:nvSpPr>
          <p:cNvPr id="4" name="Rectangle 1">
            <a:extLst>
              <a:ext uri="{FF2B5EF4-FFF2-40B4-BE49-F238E27FC236}">
                <a16:creationId xmlns:a16="http://schemas.microsoft.com/office/drawing/2014/main" id="{18EFAD15-8EFB-37FB-B052-13692375A673}"/>
              </a:ext>
            </a:extLst>
          </p:cNvPr>
          <p:cNvSpPr>
            <a:spLocks noGrp="1" noChangeArrowheads="1"/>
          </p:cNvSpPr>
          <p:nvPr>
            <p:ph idx="1"/>
          </p:nvPr>
        </p:nvSpPr>
        <p:spPr bwMode="auto">
          <a:xfrm>
            <a:off x="678426" y="2263543"/>
            <a:ext cx="773798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Preparation: Separate input features and targets and split the dataset into training and testing subsets with a 20% test size.</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Baseline Model Evaluation: Train and evaluate diverse regression models (Linear Regression, Random Forest, Gradient Boosting, KNN, SVR) using key performance metrics.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Selection and Dimensionality Reduction: Utilize pipelines for scaling, feature selection via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SelectKBest</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dimensionality reduction with PCA.</a:t>
            </a:r>
          </a:p>
          <a:p>
            <a:pPr marL="0" marR="0" lvl="0" indent="0" algn="just" defTabSz="914400" rtl="0" eaLnBrk="0" fontAlgn="base" latinLnBrk="0" hangingPunct="0">
              <a:lnSpc>
                <a:spcPct val="100000"/>
              </a:lnSpc>
              <a:spcBef>
                <a:spcPct val="0"/>
              </a:spcBef>
              <a:spcAft>
                <a:spcPct val="0"/>
              </a:spcAft>
              <a:buClrTx/>
              <a:buSzTx/>
              <a:buNone/>
              <a:tabLst/>
            </a:pPr>
            <a:endParaRPr lang="en-US" altLang="en-US" sz="18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Hyperparameter Tuning: Optimize model parameters using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GridSearchCV</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enhance model performance and accuracy.</a:t>
            </a:r>
          </a:p>
        </p:txBody>
      </p:sp>
    </p:spTree>
    <p:extLst>
      <p:ext uri="{BB962C8B-B14F-4D97-AF65-F5344CB8AC3E}">
        <p14:creationId xmlns:p14="http://schemas.microsoft.com/office/powerpoint/2010/main" val="4027095034"/>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01CA-B02B-AFD2-3B9E-61A108C12B4B}"/>
              </a:ext>
            </a:extLst>
          </p:cNvPr>
          <p:cNvSpPr>
            <a:spLocks noGrp="1"/>
          </p:cNvSpPr>
          <p:nvPr>
            <p:ph type="title"/>
          </p:nvPr>
        </p:nvSpPr>
        <p:spPr/>
        <p:txBody>
          <a:bodyPr/>
          <a:lstStyle/>
          <a:p>
            <a:r>
              <a:rPr lang="en-IN" dirty="0"/>
              <a:t>Observations</a:t>
            </a:r>
          </a:p>
        </p:txBody>
      </p:sp>
      <p:sp>
        <p:nvSpPr>
          <p:cNvPr id="3" name="Content Placeholder 2">
            <a:extLst>
              <a:ext uri="{FF2B5EF4-FFF2-40B4-BE49-F238E27FC236}">
                <a16:creationId xmlns:a16="http://schemas.microsoft.com/office/drawing/2014/main" id="{91252EC7-E9F8-148B-73CA-85F4926B9921}"/>
              </a:ext>
            </a:extLst>
          </p:cNvPr>
          <p:cNvSpPr>
            <a:spLocks noGrp="1"/>
          </p:cNvSpPr>
          <p:nvPr>
            <p:ph idx="1"/>
          </p:nvPr>
        </p:nvSpPr>
        <p:spPr>
          <a:xfrm>
            <a:off x="457200" y="2374442"/>
            <a:ext cx="3996813" cy="3673475"/>
          </a:xfrm>
        </p:spPr>
        <p:txBody>
          <a:bodyPr/>
          <a:lstStyle/>
          <a:p>
            <a:pPr marL="0" indent="0">
              <a:buNone/>
            </a:pPr>
            <a:r>
              <a:rPr lang="en-IN" sz="1800" dirty="0">
                <a:latin typeface="Times New Roman" panose="02020603050405020304" pitchFamily="18" charset="0"/>
                <a:cs typeface="Times New Roman" panose="02020603050405020304" pitchFamily="18" charset="0"/>
              </a:rPr>
              <a:t>R² Score from the results for T_MIN:</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Linear Regression: R² Score = 0.8205</a:t>
            </a:r>
          </a:p>
          <a:p>
            <a:pPr marL="0" indent="0">
              <a:buNone/>
            </a:pPr>
            <a:r>
              <a:rPr lang="en-IN" sz="1800" dirty="0">
                <a:latin typeface="Times New Roman" panose="02020603050405020304" pitchFamily="18" charset="0"/>
                <a:cs typeface="Times New Roman" panose="02020603050405020304" pitchFamily="18" charset="0"/>
              </a:rPr>
              <a:t>Random Forest: R² Score = 0.8452</a:t>
            </a:r>
          </a:p>
          <a:p>
            <a:pPr marL="0" indent="0">
              <a:buNone/>
            </a:pPr>
            <a:r>
              <a:rPr lang="en-IN" sz="1800" dirty="0">
                <a:latin typeface="Times New Roman" panose="02020603050405020304" pitchFamily="18" charset="0"/>
                <a:cs typeface="Times New Roman" panose="02020603050405020304" pitchFamily="18" charset="0"/>
              </a:rPr>
              <a:t>Gradient Boosting: R² Score = 0.8342</a:t>
            </a:r>
          </a:p>
          <a:p>
            <a:pPr marL="0" indent="0">
              <a:buNone/>
            </a:pPr>
            <a:r>
              <a:rPr lang="en-IN" sz="1800" dirty="0">
                <a:latin typeface="Times New Roman" panose="02020603050405020304" pitchFamily="18" charset="0"/>
                <a:cs typeface="Times New Roman" panose="02020603050405020304" pitchFamily="18" charset="0"/>
              </a:rPr>
              <a:t>K-Nearest Neighbors (KNN): R² Score = 0.8338</a:t>
            </a:r>
          </a:p>
          <a:p>
            <a:pPr marL="0" indent="0">
              <a:buNone/>
            </a:pPr>
            <a:r>
              <a:rPr lang="en-IN" sz="1800" dirty="0">
                <a:latin typeface="Times New Roman" panose="02020603050405020304" pitchFamily="18" charset="0"/>
                <a:cs typeface="Times New Roman" panose="02020603050405020304" pitchFamily="18" charset="0"/>
              </a:rPr>
              <a:t>Support Vector Regression (SVR): R² Score = 0.8537 </a:t>
            </a:r>
          </a:p>
        </p:txBody>
      </p:sp>
      <p:sp>
        <p:nvSpPr>
          <p:cNvPr id="4" name="Content Placeholder 2">
            <a:extLst>
              <a:ext uri="{FF2B5EF4-FFF2-40B4-BE49-F238E27FC236}">
                <a16:creationId xmlns:a16="http://schemas.microsoft.com/office/drawing/2014/main" id="{12F65D5F-7760-8160-1B44-BE4D5BFD2169}"/>
              </a:ext>
            </a:extLst>
          </p:cNvPr>
          <p:cNvSpPr txBox="1">
            <a:spLocks/>
          </p:cNvSpPr>
          <p:nvPr/>
        </p:nvSpPr>
        <p:spPr bwMode="auto">
          <a:xfrm>
            <a:off x="4689989" y="2374441"/>
            <a:ext cx="4331108"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384"/>
              </a:spcBef>
              <a:spcAft>
                <a:spcPts val="0"/>
              </a:spcAft>
              <a:buNone/>
            </a:pPr>
            <a:r>
              <a:rPr lang="en-IN" sz="1800" kern="1200" dirty="0">
                <a:solidFill>
                  <a:srgbClr val="000000"/>
                </a:solidFill>
                <a:effectLst/>
                <a:latin typeface="Times New Roman" panose="02020603050405020304" pitchFamily="18" charset="0"/>
                <a:ea typeface="MS PGothic" panose="020B0600070205080204" pitchFamily="34" charset="-128"/>
                <a:cs typeface="Times New Roman" panose="02020603050405020304" pitchFamily="18" charset="0"/>
              </a:rPr>
              <a:t>R² Score from the results for T_MAX:</a:t>
            </a:r>
          </a:p>
          <a:p>
            <a:pPr marL="0" indent="0">
              <a:spcBef>
                <a:spcPts val="384"/>
              </a:spcBef>
              <a:spcAft>
                <a:spcPts val="0"/>
              </a:spcAft>
              <a:buNone/>
            </a:pPr>
            <a:endParaRPr lang="en-US" sz="1050" dirty="0">
              <a:effectLst/>
            </a:endParaRPr>
          </a:p>
          <a:p>
            <a:pPr marL="0" indent="0" algn="l" rtl="0" eaLnBrk="0" fontAlgn="base" hangingPunct="0">
              <a:spcBef>
                <a:spcPts val="384"/>
              </a:spcBef>
              <a:spcAft>
                <a:spcPts val="0"/>
              </a:spcAft>
              <a:buNone/>
            </a:pPr>
            <a:r>
              <a:rPr lang="en-IN" sz="1800" kern="1200" dirty="0">
                <a:solidFill>
                  <a:srgbClr val="000000"/>
                </a:solidFill>
                <a:effectLst/>
                <a:latin typeface="Times New Roman" panose="02020603050405020304" pitchFamily="18" charset="0"/>
                <a:ea typeface="MS PGothic" panose="020B0600070205080204" pitchFamily="34" charset="-128"/>
                <a:cs typeface="Times New Roman" panose="02020603050405020304" pitchFamily="18" charset="0"/>
              </a:rPr>
              <a:t>Linear Regression: R² Score = 0.7466</a:t>
            </a:r>
            <a:endParaRPr lang="en-US" sz="1050" dirty="0">
              <a:effectLst/>
            </a:endParaRPr>
          </a:p>
          <a:p>
            <a:pPr marL="0" indent="0" algn="l" rtl="0" eaLnBrk="0" fontAlgn="base" hangingPunct="0">
              <a:spcBef>
                <a:spcPts val="384"/>
              </a:spcBef>
              <a:spcAft>
                <a:spcPts val="0"/>
              </a:spcAft>
              <a:buNone/>
            </a:pPr>
            <a:r>
              <a:rPr lang="en-IN" sz="1800" kern="1200" dirty="0">
                <a:solidFill>
                  <a:srgbClr val="000000"/>
                </a:solidFill>
                <a:effectLst/>
                <a:latin typeface="Times New Roman" panose="02020603050405020304" pitchFamily="18" charset="0"/>
                <a:ea typeface="MS PGothic" panose="020B0600070205080204" pitchFamily="34" charset="-128"/>
                <a:cs typeface="Times New Roman" panose="02020603050405020304" pitchFamily="18" charset="0"/>
              </a:rPr>
              <a:t>Random Forest: R² Score = 0.8760</a:t>
            </a:r>
            <a:endParaRPr lang="en-US" sz="1050" dirty="0">
              <a:effectLst/>
            </a:endParaRPr>
          </a:p>
          <a:p>
            <a:pPr marL="0" indent="0" algn="l" rtl="0" eaLnBrk="0" fontAlgn="base" hangingPunct="0">
              <a:spcBef>
                <a:spcPts val="384"/>
              </a:spcBef>
              <a:spcAft>
                <a:spcPts val="0"/>
              </a:spcAft>
              <a:buNone/>
            </a:pPr>
            <a:r>
              <a:rPr lang="en-IN" sz="1800" kern="1200" dirty="0">
                <a:solidFill>
                  <a:srgbClr val="000000"/>
                </a:solidFill>
                <a:effectLst/>
                <a:latin typeface="Times New Roman" panose="02020603050405020304" pitchFamily="18" charset="0"/>
                <a:ea typeface="MS PGothic" panose="020B0600070205080204" pitchFamily="34" charset="-128"/>
                <a:cs typeface="Times New Roman" panose="02020603050405020304" pitchFamily="18" charset="0"/>
              </a:rPr>
              <a:t>Gradient Boosting: R² Score = 0.8097</a:t>
            </a:r>
            <a:endParaRPr lang="en-US" sz="1050" dirty="0">
              <a:effectLst/>
            </a:endParaRPr>
          </a:p>
          <a:p>
            <a:pPr marL="0" indent="0" algn="l" rtl="0" eaLnBrk="0" fontAlgn="base" hangingPunct="0">
              <a:spcBef>
                <a:spcPts val="384"/>
              </a:spcBef>
              <a:spcAft>
                <a:spcPts val="0"/>
              </a:spcAft>
              <a:buNone/>
            </a:pPr>
            <a:r>
              <a:rPr lang="en-IN" sz="1800" kern="1200" dirty="0">
                <a:solidFill>
                  <a:srgbClr val="000000"/>
                </a:solidFill>
                <a:effectLst/>
                <a:latin typeface="Times New Roman" panose="02020603050405020304" pitchFamily="18" charset="0"/>
                <a:ea typeface="MS PGothic" panose="020B0600070205080204" pitchFamily="34" charset="-128"/>
                <a:cs typeface="Times New Roman" panose="02020603050405020304" pitchFamily="18" charset="0"/>
              </a:rPr>
              <a:t>K-Nearest Neighbors (KNN): R² Score = 0.9041</a:t>
            </a:r>
            <a:endParaRPr lang="en-US" sz="1050" dirty="0">
              <a:effectLst/>
            </a:endParaRPr>
          </a:p>
          <a:p>
            <a:pPr marL="0" indent="0" algn="l" rtl="0" eaLnBrk="0" fontAlgn="base" hangingPunct="0">
              <a:spcBef>
                <a:spcPts val="384"/>
              </a:spcBef>
              <a:spcAft>
                <a:spcPts val="0"/>
              </a:spcAft>
              <a:buNone/>
            </a:pPr>
            <a:r>
              <a:rPr lang="en-IN" sz="1800" kern="1200" dirty="0">
                <a:solidFill>
                  <a:srgbClr val="000000"/>
                </a:solidFill>
                <a:effectLst/>
                <a:latin typeface="Times New Roman" panose="02020603050405020304" pitchFamily="18" charset="0"/>
                <a:ea typeface="MS PGothic" panose="020B0600070205080204" pitchFamily="34" charset="-128"/>
                <a:cs typeface="Times New Roman" panose="02020603050405020304" pitchFamily="18" charset="0"/>
              </a:rPr>
              <a:t>Support Vector Regression (SVR): R² Score = 0.8645</a:t>
            </a:r>
            <a:endParaRPr lang="en-US" sz="1050" dirty="0">
              <a:effectLst/>
            </a:endParaRPr>
          </a:p>
        </p:txBody>
      </p:sp>
    </p:spTree>
    <p:extLst>
      <p:ext uri="{BB962C8B-B14F-4D97-AF65-F5344CB8AC3E}">
        <p14:creationId xmlns:p14="http://schemas.microsoft.com/office/powerpoint/2010/main" val="3187832142"/>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ADE48F-1498-150A-1584-BFBB41FF8847}"/>
              </a:ext>
            </a:extLst>
          </p:cNvPr>
          <p:cNvSpPr>
            <a:spLocks noGrp="1"/>
          </p:cNvSpPr>
          <p:nvPr>
            <p:ph idx="1"/>
          </p:nvPr>
        </p:nvSpPr>
        <p:spPr>
          <a:xfrm>
            <a:off x="457200" y="2241755"/>
            <a:ext cx="3952568" cy="3884408"/>
          </a:xfrm>
        </p:spPr>
        <p:txBody>
          <a:bodyPr/>
          <a:lstStyle/>
          <a:p>
            <a:pPr marL="0" indent="0">
              <a:buNone/>
            </a:pPr>
            <a:r>
              <a:rPr lang="en-US" sz="1800" dirty="0"/>
              <a:t>Results for T_MIN:</a:t>
            </a:r>
          </a:p>
          <a:p>
            <a:pPr marL="0" indent="0">
              <a:buNone/>
            </a:pPr>
            <a:r>
              <a:rPr lang="en-US" sz="1800" dirty="0"/>
              <a:t>Linear Regression: R² Score = 0.8205</a:t>
            </a:r>
          </a:p>
          <a:p>
            <a:pPr marL="0" indent="0">
              <a:buNone/>
            </a:pPr>
            <a:r>
              <a:rPr lang="en-US" sz="1800" dirty="0"/>
              <a:t>Random Forest: R² Score = 0.8444</a:t>
            </a:r>
          </a:p>
          <a:p>
            <a:pPr marL="0" indent="0">
              <a:buNone/>
            </a:pPr>
            <a:r>
              <a:rPr lang="en-US" sz="1800" dirty="0"/>
              <a:t>Gradient Boosting: R² Score = 0.8341</a:t>
            </a:r>
          </a:p>
          <a:p>
            <a:pPr marL="0" indent="0">
              <a:buNone/>
            </a:pPr>
            <a:r>
              <a:rPr lang="en-US" sz="1800" dirty="0"/>
              <a:t>K-Nearest Neighbors (KNN): R² Score = 0.8338</a:t>
            </a:r>
          </a:p>
          <a:p>
            <a:pPr marL="0" indent="0">
              <a:buNone/>
            </a:pPr>
            <a:r>
              <a:rPr lang="en-US" sz="1800" dirty="0"/>
              <a:t>Support Vector Regression (SVR): R² Score = 0.8537</a:t>
            </a:r>
          </a:p>
        </p:txBody>
      </p:sp>
      <p:sp>
        <p:nvSpPr>
          <p:cNvPr id="4" name="Content Placeholder 2">
            <a:extLst>
              <a:ext uri="{FF2B5EF4-FFF2-40B4-BE49-F238E27FC236}">
                <a16:creationId xmlns:a16="http://schemas.microsoft.com/office/drawing/2014/main" id="{EF4C8F4B-9491-554C-692F-9C4373D2CFB4}"/>
              </a:ext>
            </a:extLst>
          </p:cNvPr>
          <p:cNvSpPr txBox="1">
            <a:spLocks/>
          </p:cNvSpPr>
          <p:nvPr/>
        </p:nvSpPr>
        <p:spPr bwMode="auto">
          <a:xfrm>
            <a:off x="4729316" y="2241755"/>
            <a:ext cx="3952568" cy="388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34" charset="-128"/>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800" dirty="0"/>
              <a:t>Results for T_MAX:</a:t>
            </a:r>
          </a:p>
          <a:p>
            <a:pPr marL="0" indent="0">
              <a:buFont typeface="Arial" panose="020B0604020202020204" pitchFamily="34" charset="0"/>
              <a:buNone/>
            </a:pPr>
            <a:r>
              <a:rPr lang="en-US" sz="1800" dirty="0"/>
              <a:t>Linear Regression: R² Score = 0.7466</a:t>
            </a:r>
          </a:p>
          <a:p>
            <a:pPr marL="0" indent="0">
              <a:buFont typeface="Arial" panose="020B0604020202020204" pitchFamily="34" charset="0"/>
              <a:buNone/>
            </a:pPr>
            <a:r>
              <a:rPr lang="en-US" sz="1800" dirty="0"/>
              <a:t>Random Forest: R² Score = 0.8758</a:t>
            </a:r>
          </a:p>
          <a:p>
            <a:pPr marL="0" indent="0">
              <a:buFont typeface="Arial" panose="020B0604020202020204" pitchFamily="34" charset="0"/>
              <a:buNone/>
            </a:pPr>
            <a:r>
              <a:rPr lang="en-US" sz="1800" dirty="0"/>
              <a:t>Gradient Boosting: R² Score = 0.8099</a:t>
            </a:r>
          </a:p>
          <a:p>
            <a:pPr marL="0" indent="0">
              <a:buFont typeface="Arial" panose="020B0604020202020204" pitchFamily="34" charset="0"/>
              <a:buNone/>
            </a:pPr>
            <a:r>
              <a:rPr lang="en-US" sz="1800" dirty="0"/>
              <a:t>K-Nearest Neighbors (KNN): R² Score = 0.9041</a:t>
            </a:r>
          </a:p>
          <a:p>
            <a:pPr marL="0" indent="0">
              <a:buFont typeface="Arial" panose="020B0604020202020204" pitchFamily="34" charset="0"/>
              <a:buNone/>
            </a:pPr>
            <a:r>
              <a:rPr lang="en-US" sz="1800" dirty="0"/>
              <a:t>Support Vector Regression (SVR): R² Score = 0.8645</a:t>
            </a:r>
          </a:p>
        </p:txBody>
      </p:sp>
      <p:sp>
        <p:nvSpPr>
          <p:cNvPr id="5" name="Title 1">
            <a:extLst>
              <a:ext uri="{FF2B5EF4-FFF2-40B4-BE49-F238E27FC236}">
                <a16:creationId xmlns:a16="http://schemas.microsoft.com/office/drawing/2014/main" id="{307B8C2C-3B59-2D52-E0BC-FE069CFE3BFB}"/>
              </a:ext>
            </a:extLst>
          </p:cNvPr>
          <p:cNvSpPr>
            <a:spLocks noGrp="1"/>
          </p:cNvSpPr>
          <p:nvPr>
            <p:ph type="title"/>
          </p:nvPr>
        </p:nvSpPr>
        <p:spPr>
          <a:xfrm>
            <a:off x="457200" y="1158875"/>
            <a:ext cx="8229600" cy="758415"/>
          </a:xfrm>
        </p:spPr>
        <p:txBody>
          <a:bodyPr/>
          <a:lstStyle/>
          <a:p>
            <a:r>
              <a:rPr lang="en-IN" dirty="0"/>
              <a:t>Observations After Ensemble</a:t>
            </a:r>
          </a:p>
        </p:txBody>
      </p:sp>
    </p:spTree>
    <p:extLst>
      <p:ext uri="{BB962C8B-B14F-4D97-AF65-F5344CB8AC3E}">
        <p14:creationId xmlns:p14="http://schemas.microsoft.com/office/powerpoint/2010/main" val="262622230"/>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A6CE2-0473-5569-9B2B-A5A55B7BF3CE}"/>
              </a:ext>
            </a:extLst>
          </p:cNvPr>
          <p:cNvSpPr>
            <a:spLocks noGrp="1"/>
          </p:cNvSpPr>
          <p:nvPr>
            <p:ph type="title"/>
          </p:nvPr>
        </p:nvSpPr>
        <p:spPr>
          <a:xfrm>
            <a:off x="457200" y="882028"/>
            <a:ext cx="8229600" cy="1143000"/>
          </a:xfrm>
        </p:spPr>
        <p:txBody>
          <a:bodyPr/>
          <a:lstStyle/>
          <a:p>
            <a:r>
              <a:rPr lang="en-IN" dirty="0"/>
              <a:t>Conclusion</a:t>
            </a:r>
          </a:p>
        </p:txBody>
      </p:sp>
      <p:sp>
        <p:nvSpPr>
          <p:cNvPr id="3" name="Content Placeholder 2">
            <a:extLst>
              <a:ext uri="{FF2B5EF4-FFF2-40B4-BE49-F238E27FC236}">
                <a16:creationId xmlns:a16="http://schemas.microsoft.com/office/drawing/2014/main" id="{D1656878-0C2B-80AE-F911-5924291678E2}"/>
              </a:ext>
            </a:extLst>
          </p:cNvPr>
          <p:cNvSpPr>
            <a:spLocks noGrp="1"/>
          </p:cNvSpPr>
          <p:nvPr>
            <p:ph idx="1"/>
          </p:nvPr>
        </p:nvSpPr>
        <p:spPr>
          <a:xfrm>
            <a:off x="457200" y="2025650"/>
            <a:ext cx="8229600" cy="4384577"/>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Diverse Models Enhance Insights: Utilizing multiple regression models revealed varied strengths in temperature prediction.</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Impact of Hyperparameter Tuning: Adjusting model parameters significantly improved accuracy, particularly for Random Forest and SVR.</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Crucial Role of Feature Selection: Implementing feature selection techniques like PCA proved essential for optimizing model performance.</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Valuable Performance Metrics : Metrics such as MSE, MAE, R², and Explained Variance were key in evaluating and comparing model effectiveness.</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Real-World Application : The project highlighted the application of machine learning in enhancing weather forecasting accuracy, beneficial for critical sectors.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4223533"/>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1FB40B-6924-236D-8ED5-6F313A57EAD2}"/>
              </a:ext>
            </a:extLst>
          </p:cNvPr>
          <p:cNvSpPr>
            <a:spLocks noGrp="1"/>
          </p:cNvSpPr>
          <p:nvPr>
            <p:ph idx="1"/>
          </p:nvPr>
        </p:nvSpPr>
        <p:spPr>
          <a:xfrm>
            <a:off x="2038547" y="3082565"/>
            <a:ext cx="5066906" cy="1300899"/>
          </a:xfrm>
        </p:spPr>
        <p:txBody>
          <a:bodyPr/>
          <a:lstStyle/>
          <a:p>
            <a:pPr marL="0" indent="0" algn="ctr">
              <a:buNone/>
            </a:pPr>
            <a:r>
              <a:rPr lang="en-IN" b="1" dirty="0"/>
              <a:t>THANK YOU</a:t>
            </a:r>
          </a:p>
        </p:txBody>
      </p:sp>
    </p:spTree>
    <p:extLst>
      <p:ext uri="{BB962C8B-B14F-4D97-AF65-F5344CB8AC3E}">
        <p14:creationId xmlns:p14="http://schemas.microsoft.com/office/powerpoint/2010/main" val="57063970"/>
      </p:ext>
    </p:extLst>
  </p:cSld>
  <p:clrMapOvr>
    <a:masterClrMapping/>
  </p:clrMapOvr>
  <mc:AlternateContent xmlns:mc="http://schemas.openxmlformats.org/markup-compatibility/2006" xmlns:p14="http://schemas.microsoft.com/office/powerpoint/2010/main">
    <mc:Choice Requires="p14">
      <p:transition spd="slow" p14:dur="30000">
        <p:wipe/>
      </p:transition>
    </mc:Choice>
    <mc:Fallback xmlns="">
      <p:transition spd="slow">
        <p:wip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3679</TotalTime>
  <Words>564</Words>
  <Application>Microsoft Office PowerPoint</Application>
  <PresentationFormat>On-screen Show (4:3)</PresentationFormat>
  <Paragraphs>57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Microsoft Himalaya</vt:lpstr>
      <vt:lpstr>Times New Roman</vt:lpstr>
      <vt:lpstr>Office Theme</vt:lpstr>
      <vt:lpstr>Next Day Temperature Predection</vt:lpstr>
      <vt:lpstr>Problem Statement</vt:lpstr>
      <vt:lpstr>Data Set</vt:lpstr>
      <vt:lpstr>Data Cleaning &amp; Analysis</vt:lpstr>
      <vt:lpstr>PowerPoint Presentation</vt:lpstr>
      <vt:lpstr>EDA</vt:lpstr>
      <vt:lpstr>PowerPoint Presentation</vt:lpstr>
      <vt:lpstr>Algorithms Approach</vt:lpstr>
      <vt:lpstr>Observations</vt:lpstr>
      <vt:lpstr>Observations After Ensemble</vt:lpstr>
      <vt:lpstr>Conclusion</vt:lpstr>
      <vt:lpstr>PowerPoint Presentation</vt:lpstr>
    </vt:vector>
  </TitlesOfParts>
  <Company>UMBC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Jim Lord</dc:creator>
  <cp:lastModifiedBy>sumanth gannamani</cp:lastModifiedBy>
  <cp:revision>162</cp:revision>
  <dcterms:created xsi:type="dcterms:W3CDTF">2014-05-05T14:25:42Z</dcterms:created>
  <dcterms:modified xsi:type="dcterms:W3CDTF">2024-05-09T17:45:03Z</dcterms:modified>
</cp:coreProperties>
</file>